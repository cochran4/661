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0" r:id="rId5"/>
    <p:sldId id="259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7"/>
    <p:restoredTop sz="94689"/>
  </p:normalViewPr>
  <p:slideViewPr>
    <p:cSldViewPr snapToGrid="0">
      <p:cViewPr varScale="1">
        <p:scale>
          <a:sx n="108" d="100"/>
          <a:sy n="108" d="100"/>
        </p:scale>
        <p:origin x="76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134FB9-CF3E-4553-4B48-828A9093111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A22BAF0-A9FD-DFE1-6356-4A8E326F87C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386848-A8D0-6B9B-BB89-04409C16E4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D84E21-252E-838B-5ABF-C12A167E87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79B939-43B8-01E5-B031-87B4BF5500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9820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8B6873-4F6C-1304-F6F7-C25D7DEDFD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7DEF9-D7DF-0473-F07F-4753F7D0CDF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969163-8A64-3560-555C-67F601298B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CC95F4-5AB8-998F-AAB1-E9B2DEBD05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FA3C99C-118D-D2B7-D802-EBF824B8C4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3604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F833C9-144B-43BE-ADAD-B48EACF45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BD92F7-F33D-DE08-B1D1-76D8E27909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358A231-6CE4-443C-E56D-38F346E42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3AE0B4B-59A4-5C01-F066-305DDBC5F3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A5032F-C6F4-0DF2-F24A-A0313ABB74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31146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1EB516-3E8E-F0F9-BF4E-94FD8A3475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6257E-50AD-62D8-F9ED-095C2DF0810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F3EFD84-5080-9D89-06CD-61750C61A7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04B432-D0A0-6FCF-8CB3-EC57916640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93B0FD7-8809-A71F-EE50-5A0DF2A131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8BA9B0-C9D9-9733-95BE-DA125E63B8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1500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131AAD-D061-EDA8-FAED-15DE7FFAD0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2249D13-2B66-DD7B-40BA-A25A046212F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3B0EFB8-AFD0-1CAE-141D-15651B5EF01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987246-6F60-04A0-587F-92D5AD4E0A4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253FCBD-C740-FDEE-11E9-D104DBD5E1C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46BEE0-C9A4-D7D2-96F8-90E6C647EB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2D889BB-43A9-9C23-23CC-2E79498F5D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9F454F-8161-8751-F679-3BFEC16E0C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1698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12065B-84A8-82A5-50DD-0F50D08747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24F6690-F384-9BF7-D742-E727A4FBF6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76A2285-D40E-1CCA-AFF6-184D0BDA53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21AC0DE-6857-2B17-D1FD-746B40AC36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86565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836F6A6-4F60-12AF-D220-1929D3364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03E10BF-C71E-5B05-275D-87A4D5FAD9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F72976-454C-C50D-DE54-994D917780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475349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B19CFD-781C-12E2-CBCF-74C502281B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DD15608-11C2-E5FD-46A0-16ED1564D11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39834D-E4FB-B6B6-6EAB-A20247FF77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691AE86-10AE-86BC-68BE-654F8DB177F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58A233-734B-FC0B-2488-1330E0DED7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5D9FC-CB95-4114-8BAD-A6C98F127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550219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F6D2A0-6457-EAC1-78D7-4AEA14C86B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4382FD9-121B-0591-0694-0204A925DA8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84BFB7F-5355-97C5-F004-269419C73D8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C31EFD-35DA-870E-3D9E-42DA1B488D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81AD4E-76CA-0F97-4F9C-5F79BB71517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C49EDA-DA31-90E6-37BC-373529C02E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6334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62E219-9D27-5D24-E407-BBFD0057B0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D0E4C2E-2520-36B1-78E8-ED7A121316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A04DE9-3550-431F-6402-D3036F57C7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AE9CE3B-3E67-42B6-4D2B-B421A66A10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E8947B-584D-0155-BABA-D547E5AACB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065310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FCC40A0-4CB6-D1DC-4F27-0099B6E9959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BFDF00-8C86-7DA2-45CE-76EA83F63BE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749A01-8C36-5FBF-D4C5-BC2D5CC1A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C04C3A-719B-4B81-C764-F38AC727C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7A691C-14B6-F42B-C615-C7B0C582A8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75063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018313E-D8B4-5923-4BE2-8036313EA5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3CD408-722A-1F6E-8D7B-B65FD124FB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C8ECCD-23F0-80C0-05F6-9C84F92E653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1A04BA-C327-B643-8947-618E5D05814C}" type="datetimeFigureOut">
              <a:rPr lang="en-US" smtClean="0"/>
              <a:t>6/28/26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449D60-FA96-2F19-5A84-E46EAACC8B8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FE40C1-4D7B-C845-01C9-2F169397CC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5EFE55-CE94-6142-8497-53E9CCDCC4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2651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21D4A85B-554D-4688-C1E6-EF98ADC711EA}"/>
              </a:ext>
            </a:extLst>
          </p:cNvPr>
          <p:cNvCxnSpPr>
            <a:cxnSpLocks/>
          </p:cNvCxnSpPr>
          <p:nvPr/>
        </p:nvCxnSpPr>
        <p:spPr>
          <a:xfrm flipH="1" flipV="1">
            <a:off x="1395346" y="1375565"/>
            <a:ext cx="1983183" cy="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BBF849A-5EDE-CCFD-E729-D546CCF3CA32}"/>
              </a:ext>
            </a:extLst>
          </p:cNvPr>
          <p:cNvCxnSpPr>
            <a:cxnSpLocks/>
          </p:cNvCxnSpPr>
          <p:nvPr/>
        </p:nvCxnSpPr>
        <p:spPr>
          <a:xfrm flipV="1">
            <a:off x="3464620" y="1286501"/>
            <a:ext cx="0" cy="297278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981F3AFB-1F32-E86F-9177-CB547B302C75}"/>
              </a:ext>
            </a:extLst>
          </p:cNvPr>
          <p:cNvCxnSpPr>
            <a:cxnSpLocks/>
          </p:cNvCxnSpPr>
          <p:nvPr/>
        </p:nvCxnSpPr>
        <p:spPr>
          <a:xfrm flipV="1">
            <a:off x="1365663" y="795647"/>
            <a:ext cx="0" cy="34319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F7DF74B-705F-6E92-1C52-33B75514E1FB}"/>
              </a:ext>
            </a:extLst>
          </p:cNvPr>
          <p:cNvCxnSpPr>
            <a:cxnSpLocks/>
          </p:cNvCxnSpPr>
          <p:nvPr/>
        </p:nvCxnSpPr>
        <p:spPr>
          <a:xfrm>
            <a:off x="1339932" y="4227616"/>
            <a:ext cx="34101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B0B77E1C-81E9-BAD4-6BCB-6B32D6EC4328}"/>
              </a:ext>
            </a:extLst>
          </p:cNvPr>
          <p:cNvCxnSpPr>
            <a:cxnSpLocks/>
          </p:cNvCxnSpPr>
          <p:nvPr/>
        </p:nvCxnSpPr>
        <p:spPr>
          <a:xfrm>
            <a:off x="3455719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35AED51-F153-6929-ADFF-53EF0FC12F63}"/>
              </a:ext>
            </a:extLst>
          </p:cNvPr>
          <p:cNvCxnSpPr>
            <a:cxnSpLocks/>
          </p:cNvCxnSpPr>
          <p:nvPr/>
        </p:nvCxnSpPr>
        <p:spPr>
          <a:xfrm flipH="1">
            <a:off x="1243938" y="1375566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D0873F8A-FF2B-9F42-30EF-BA1C9AA0BB05}"/>
              </a:ext>
            </a:extLst>
          </p:cNvPr>
          <p:cNvSpPr/>
          <p:nvPr/>
        </p:nvSpPr>
        <p:spPr>
          <a:xfrm>
            <a:off x="3366654" y="1286501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C6189F7-46E8-352D-DBD1-1532D3479889}"/>
                  </a:ext>
                </a:extLst>
              </p:cNvPr>
              <p:cNvSpPr txBox="1"/>
              <p:nvPr/>
            </p:nvSpPr>
            <p:spPr>
              <a:xfrm>
                <a:off x="3464620" y="851856"/>
                <a:ext cx="2640916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300" i="1" dirty="0">
                  <a:latin typeface="Chalkboard" panose="03050602040202020205" pitchFamily="66" charset="77"/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AC6189F7-46E8-352D-DBD1-1532D347988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64620" y="851856"/>
                <a:ext cx="2640916" cy="353943"/>
              </a:xfrm>
              <a:prstGeom prst="rect">
                <a:avLst/>
              </a:prstGeom>
              <a:blipFill>
                <a:blip r:embed="rId2"/>
                <a:stretch>
                  <a:fillRect l="-2871" r="-2871" b="-310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578B7B7-4171-8B02-1642-DAC2D96DF9BB}"/>
                  </a:ext>
                </a:extLst>
              </p:cNvPr>
              <p:cNvSpPr txBox="1"/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E578B7B7-4171-8B02-1642-DAC2D96DF9B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F088F0-AF7F-6F45-A01B-104D53A00E53}"/>
                  </a:ext>
                </a:extLst>
              </p:cNvPr>
              <p:cNvSpPr txBox="1"/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0DF088F0-AF7F-6F45-A01B-104D53A00E5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2" name="TextBox 31">
            <a:extLst>
              <a:ext uri="{FF2B5EF4-FFF2-40B4-BE49-F238E27FC236}">
                <a16:creationId xmlns:a16="http://schemas.microsoft.com/office/drawing/2014/main" id="{F4528E75-D9F0-A756-3F0E-4024C8279CB7}"/>
              </a:ext>
            </a:extLst>
          </p:cNvPr>
          <p:cNvSpPr txBox="1"/>
          <p:nvPr/>
        </p:nvSpPr>
        <p:spPr>
          <a:xfrm>
            <a:off x="607126" y="111615"/>
            <a:ext cx="151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smokers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92C34114-9BBC-74F4-5506-0B265714B8BD}"/>
              </a:ext>
            </a:extLst>
          </p:cNvPr>
          <p:cNvSpPr txBox="1"/>
          <p:nvPr/>
        </p:nvSpPr>
        <p:spPr>
          <a:xfrm>
            <a:off x="4618029" y="3931092"/>
            <a:ext cx="1750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non-smokers</a:t>
            </a:r>
          </a:p>
        </p:txBody>
      </p:sp>
    </p:spTree>
    <p:extLst>
      <p:ext uri="{BB962C8B-B14F-4D97-AF65-F5344CB8AC3E}">
        <p14:creationId xmlns:p14="http://schemas.microsoft.com/office/powerpoint/2010/main" val="42717065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DEAEAE9-FBFD-4FFA-EAF8-5A5E4C050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129EC683-627D-1572-CEAE-152656D42F77}"/>
              </a:ext>
            </a:extLst>
          </p:cNvPr>
          <p:cNvCxnSpPr>
            <a:cxnSpLocks/>
          </p:cNvCxnSpPr>
          <p:nvPr/>
        </p:nvCxnSpPr>
        <p:spPr>
          <a:xfrm flipH="1" flipV="1">
            <a:off x="1395346" y="1375565"/>
            <a:ext cx="1983183" cy="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A890ED56-3AC2-FB15-AC0F-D5DE7A737476}"/>
              </a:ext>
            </a:extLst>
          </p:cNvPr>
          <p:cNvCxnSpPr>
            <a:cxnSpLocks/>
          </p:cNvCxnSpPr>
          <p:nvPr/>
        </p:nvCxnSpPr>
        <p:spPr>
          <a:xfrm flipV="1">
            <a:off x="3464620" y="1286501"/>
            <a:ext cx="0" cy="297278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FB8D92FD-4704-2AC3-1E61-C905E1A0C738}"/>
              </a:ext>
            </a:extLst>
          </p:cNvPr>
          <p:cNvCxnSpPr>
            <a:cxnSpLocks/>
          </p:cNvCxnSpPr>
          <p:nvPr/>
        </p:nvCxnSpPr>
        <p:spPr>
          <a:xfrm flipV="1">
            <a:off x="1365663" y="795647"/>
            <a:ext cx="0" cy="34319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F58DE37B-B0F5-BD23-A6EA-025B2AFB34F8}"/>
              </a:ext>
            </a:extLst>
          </p:cNvPr>
          <p:cNvCxnSpPr>
            <a:cxnSpLocks/>
          </p:cNvCxnSpPr>
          <p:nvPr/>
        </p:nvCxnSpPr>
        <p:spPr>
          <a:xfrm>
            <a:off x="1339932" y="4227616"/>
            <a:ext cx="34101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649B78E9-8B5F-A415-8067-D7BB4F3BF19F}"/>
              </a:ext>
            </a:extLst>
          </p:cNvPr>
          <p:cNvCxnSpPr>
            <a:cxnSpLocks/>
          </p:cNvCxnSpPr>
          <p:nvPr/>
        </p:nvCxnSpPr>
        <p:spPr>
          <a:xfrm>
            <a:off x="3455719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3826193E-FAC6-4427-EDCA-FC23C52FE0DB}"/>
              </a:ext>
            </a:extLst>
          </p:cNvPr>
          <p:cNvCxnSpPr>
            <a:cxnSpLocks/>
          </p:cNvCxnSpPr>
          <p:nvPr/>
        </p:nvCxnSpPr>
        <p:spPr>
          <a:xfrm flipH="1">
            <a:off x="1243938" y="1375566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98CF760E-7EDB-E57C-827E-36B37D1C6EFD}"/>
              </a:ext>
            </a:extLst>
          </p:cNvPr>
          <p:cNvSpPr/>
          <p:nvPr/>
        </p:nvSpPr>
        <p:spPr>
          <a:xfrm>
            <a:off x="3366654" y="1286501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930024-533E-45C8-5F46-354774A0B078}"/>
                  </a:ext>
                </a:extLst>
              </p:cNvPr>
              <p:cNvSpPr txBox="1"/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D7930024-533E-45C8-5F46-354774A0B07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F996CB-A3B3-6FC1-C3B5-7463A21A3FD7}"/>
                  </a:ext>
                </a:extLst>
              </p:cNvPr>
              <p:cNvSpPr txBox="1"/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8FF996CB-A3B3-6FC1-C3B5-7463A21A3F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Box 27">
            <a:extLst>
              <a:ext uri="{FF2B5EF4-FFF2-40B4-BE49-F238E27FC236}">
                <a16:creationId xmlns:a16="http://schemas.microsoft.com/office/drawing/2014/main" id="{B9A95793-1EE7-0352-F334-5457B8B7DD38}"/>
              </a:ext>
            </a:extLst>
          </p:cNvPr>
          <p:cNvSpPr txBox="1"/>
          <p:nvPr/>
        </p:nvSpPr>
        <p:spPr>
          <a:xfrm>
            <a:off x="607126" y="111615"/>
            <a:ext cx="151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smokers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668431-B1E2-479A-B92D-F6F00113C914}"/>
                  </a:ext>
                </a:extLst>
              </p:cNvPr>
              <p:cNvSpPr txBox="1"/>
              <p:nvPr/>
            </p:nvSpPr>
            <p:spPr>
              <a:xfrm>
                <a:off x="3771420" y="2739573"/>
                <a:ext cx="1750605" cy="658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𝛥</m:t>
                          </m:r>
                        </m:den>
                      </m:f>
                    </m:oMath>
                  </m:oMathPara>
                </a14:m>
                <a:endParaRPr lang="en-US" b="1" dirty="0">
                  <a:latin typeface="Chalkboard" panose="03050602040202020205" pitchFamily="66" charset="77"/>
                </a:endParaRPr>
              </a:p>
            </p:txBody>
          </p:sp>
        </mc:Choice>
        <mc:Fallback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F2668431-B1E2-479A-B92D-F6F00113C91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71420" y="2739573"/>
                <a:ext cx="1750605" cy="658065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3" name="Straight Connector 32">
            <a:extLst>
              <a:ext uri="{FF2B5EF4-FFF2-40B4-BE49-F238E27FC236}">
                <a16:creationId xmlns:a16="http://schemas.microsoft.com/office/drawing/2014/main" id="{4B91E2C7-D5F2-909D-9FDA-92FEAECA829F}"/>
              </a:ext>
            </a:extLst>
          </p:cNvPr>
          <p:cNvCxnSpPr>
            <a:cxnSpLocks/>
          </p:cNvCxnSpPr>
          <p:nvPr/>
        </p:nvCxnSpPr>
        <p:spPr>
          <a:xfrm flipH="1">
            <a:off x="2525981" y="2654950"/>
            <a:ext cx="286988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7F5341F-D778-622F-01E2-B1A620DC9890}"/>
              </a:ext>
            </a:extLst>
          </p:cNvPr>
          <p:cNvCxnSpPr>
            <a:cxnSpLocks/>
          </p:cNvCxnSpPr>
          <p:nvPr/>
        </p:nvCxnSpPr>
        <p:spPr>
          <a:xfrm flipV="1">
            <a:off x="2812969" y="2232561"/>
            <a:ext cx="0" cy="426929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67D472FF-B1DB-672F-1C4A-8A5014F105A7}"/>
              </a:ext>
            </a:extLst>
          </p:cNvPr>
          <p:cNvCxnSpPr>
            <a:cxnSpLocks/>
            <a:stCxn id="20" idx="3"/>
          </p:cNvCxnSpPr>
          <p:nvPr/>
        </p:nvCxnSpPr>
        <p:spPr>
          <a:xfrm flipH="1">
            <a:off x="1365663" y="1438544"/>
            <a:ext cx="2027077" cy="278907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8" name="Freeform 37">
            <a:extLst>
              <a:ext uri="{FF2B5EF4-FFF2-40B4-BE49-F238E27FC236}">
                <a16:creationId xmlns:a16="http://schemas.microsoft.com/office/drawing/2014/main" id="{503FEED5-FE4B-078D-FE25-E98BA157C8E7}"/>
              </a:ext>
            </a:extLst>
          </p:cNvPr>
          <p:cNvSpPr/>
          <p:nvPr/>
        </p:nvSpPr>
        <p:spPr>
          <a:xfrm>
            <a:off x="2909455" y="2392002"/>
            <a:ext cx="1068779" cy="671832"/>
          </a:xfrm>
          <a:custGeom>
            <a:avLst/>
            <a:gdLst>
              <a:gd name="csX0" fmla="*/ 0 w 1068779"/>
              <a:gd name="csY0" fmla="*/ 101816 h 671832"/>
              <a:gd name="csX1" fmla="*/ 320633 w 1068779"/>
              <a:gd name="csY1" fmla="*/ 30564 h 671832"/>
              <a:gd name="csX2" fmla="*/ 629392 w 1068779"/>
              <a:gd name="csY2" fmla="*/ 541203 h 671832"/>
              <a:gd name="csX3" fmla="*/ 1068779 w 1068779"/>
              <a:gd name="csY3" fmla="*/ 671832 h 671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8779" h="671832">
                <a:moveTo>
                  <a:pt x="0" y="101816"/>
                </a:moveTo>
                <a:cubicBezTo>
                  <a:pt x="107867" y="29574"/>
                  <a:pt x="215734" y="-42667"/>
                  <a:pt x="320633" y="30564"/>
                </a:cubicBezTo>
                <a:cubicBezTo>
                  <a:pt x="425532" y="103795"/>
                  <a:pt x="504701" y="434325"/>
                  <a:pt x="629392" y="541203"/>
                </a:cubicBezTo>
                <a:cubicBezTo>
                  <a:pt x="754083" y="648081"/>
                  <a:pt x="911431" y="659956"/>
                  <a:pt x="1068779" y="671832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65811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4E7CF-CECC-57AC-11F0-FCAB2B528B2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89DA4A0E-4062-B417-5516-0167E538ED1B}"/>
              </a:ext>
            </a:extLst>
          </p:cNvPr>
          <p:cNvCxnSpPr>
            <a:cxnSpLocks/>
          </p:cNvCxnSpPr>
          <p:nvPr/>
        </p:nvCxnSpPr>
        <p:spPr>
          <a:xfrm flipV="1">
            <a:off x="2470071" y="1375565"/>
            <a:ext cx="0" cy="285205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1B85C0E1-1681-01FC-EE75-DAB7D13CA7F3}"/>
              </a:ext>
            </a:extLst>
          </p:cNvPr>
          <p:cNvCxnSpPr>
            <a:cxnSpLocks/>
          </p:cNvCxnSpPr>
          <p:nvPr/>
        </p:nvCxnSpPr>
        <p:spPr>
          <a:xfrm flipH="1">
            <a:off x="1365663" y="2359238"/>
            <a:ext cx="2104909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CFDC6A9B-8963-3503-4F7B-A17493249250}"/>
              </a:ext>
            </a:extLst>
          </p:cNvPr>
          <p:cNvCxnSpPr>
            <a:cxnSpLocks/>
          </p:cNvCxnSpPr>
          <p:nvPr/>
        </p:nvCxnSpPr>
        <p:spPr>
          <a:xfrm flipH="1" flipV="1">
            <a:off x="1395346" y="1375565"/>
            <a:ext cx="1983183" cy="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8E7BC2C6-42A6-0709-D133-CE07A00B8B7B}"/>
              </a:ext>
            </a:extLst>
          </p:cNvPr>
          <p:cNvCxnSpPr>
            <a:cxnSpLocks/>
          </p:cNvCxnSpPr>
          <p:nvPr/>
        </p:nvCxnSpPr>
        <p:spPr>
          <a:xfrm flipV="1">
            <a:off x="3464620" y="1286501"/>
            <a:ext cx="0" cy="297278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8A41F16-F3AE-E74E-31A3-88121AD06AB7}"/>
              </a:ext>
            </a:extLst>
          </p:cNvPr>
          <p:cNvCxnSpPr>
            <a:cxnSpLocks/>
          </p:cNvCxnSpPr>
          <p:nvPr/>
        </p:nvCxnSpPr>
        <p:spPr>
          <a:xfrm flipV="1">
            <a:off x="1365663" y="795647"/>
            <a:ext cx="0" cy="34319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B5D570A-EC37-1582-C8E8-DCCBC95471C3}"/>
              </a:ext>
            </a:extLst>
          </p:cNvPr>
          <p:cNvCxnSpPr>
            <a:cxnSpLocks/>
          </p:cNvCxnSpPr>
          <p:nvPr/>
        </p:nvCxnSpPr>
        <p:spPr>
          <a:xfrm>
            <a:off x="1339932" y="4227616"/>
            <a:ext cx="34101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C8A0F131-F0BF-BB20-F877-A5D1156C327C}"/>
              </a:ext>
            </a:extLst>
          </p:cNvPr>
          <p:cNvCxnSpPr>
            <a:cxnSpLocks/>
          </p:cNvCxnSpPr>
          <p:nvPr/>
        </p:nvCxnSpPr>
        <p:spPr>
          <a:xfrm>
            <a:off x="3455719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11E8675F-C9AD-252B-0121-CE1EC716E732}"/>
              </a:ext>
            </a:extLst>
          </p:cNvPr>
          <p:cNvCxnSpPr>
            <a:cxnSpLocks/>
          </p:cNvCxnSpPr>
          <p:nvPr/>
        </p:nvCxnSpPr>
        <p:spPr>
          <a:xfrm flipH="1">
            <a:off x="1243938" y="1375566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2B7D6B21-9B93-8BB8-BDB0-4A336D61381D}"/>
              </a:ext>
            </a:extLst>
          </p:cNvPr>
          <p:cNvSpPr/>
          <p:nvPr/>
        </p:nvSpPr>
        <p:spPr>
          <a:xfrm>
            <a:off x="3366654" y="1286501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E61DE30-B161-1EFA-48B9-A8EFCA9D9198}"/>
                  </a:ext>
                </a:extLst>
              </p:cNvPr>
              <p:cNvSpPr txBox="1"/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9E61DE30-B161-1EFA-48B9-A8EFCA9D91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ECE43A-18B6-623B-153B-E953A0A54CC3}"/>
                  </a:ext>
                </a:extLst>
              </p:cNvPr>
              <p:cNvSpPr txBox="1"/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23ECE43A-18B6-623B-153B-E953A0A54CC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67F80D47-AD18-780C-2745-8B7949388BA7}"/>
              </a:ext>
            </a:extLst>
          </p:cNvPr>
          <p:cNvCxnSpPr>
            <a:cxnSpLocks/>
          </p:cNvCxnSpPr>
          <p:nvPr/>
        </p:nvCxnSpPr>
        <p:spPr>
          <a:xfrm>
            <a:off x="2470071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C30C8D08-F959-551D-4A56-65A5BB6E6C40}"/>
              </a:ext>
            </a:extLst>
          </p:cNvPr>
          <p:cNvCxnSpPr>
            <a:cxnSpLocks/>
          </p:cNvCxnSpPr>
          <p:nvPr/>
        </p:nvCxnSpPr>
        <p:spPr>
          <a:xfrm flipH="1">
            <a:off x="1228103" y="2359238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F7016-FBB5-46F5-C4A8-8EF24092345F}"/>
                  </a:ext>
                </a:extLst>
              </p:cNvPr>
              <p:cNvSpPr txBox="1"/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FDF7016-FBB5-46F5-C4A8-8EF24092345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694192-EC72-5965-2750-861CE556CCD8}"/>
                  </a:ext>
                </a:extLst>
              </p:cNvPr>
              <p:cNvSpPr txBox="1"/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D694192-EC72-5965-2750-861CE556CCD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F6DF82F-EC78-BBFA-BE3F-D443AAD48EB8}"/>
              </a:ext>
            </a:extLst>
          </p:cNvPr>
          <p:cNvSpPr txBox="1"/>
          <p:nvPr/>
        </p:nvSpPr>
        <p:spPr>
          <a:xfrm>
            <a:off x="607126" y="111615"/>
            <a:ext cx="151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smokers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7EFA644-DBDE-7678-9E18-81A5155C6B4D}"/>
              </a:ext>
            </a:extLst>
          </p:cNvPr>
          <p:cNvSpPr txBox="1"/>
          <p:nvPr/>
        </p:nvSpPr>
        <p:spPr>
          <a:xfrm>
            <a:off x="4618029" y="3931092"/>
            <a:ext cx="1750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non-smokers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0197ECDE-1CED-3182-95D6-E7EF81631F89}"/>
              </a:ext>
            </a:extLst>
          </p:cNvPr>
          <p:cNvSpPr/>
          <p:nvPr/>
        </p:nvSpPr>
        <p:spPr>
          <a:xfrm>
            <a:off x="2381006" y="2258298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50BB3-73C6-73E6-691E-4025B2673351}"/>
                  </a:ext>
                </a:extLst>
              </p:cNvPr>
              <p:cNvSpPr txBox="1"/>
              <p:nvPr/>
            </p:nvSpPr>
            <p:spPr>
              <a:xfrm>
                <a:off x="2440389" y="1884567"/>
                <a:ext cx="1557862" cy="35394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, 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sz="2300" i="1" dirty="0">
                  <a:latin typeface="Chalkboard" panose="03050602040202020205" pitchFamily="66" charset="77"/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19650BB3-73C6-73E6-691E-4025B267335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40389" y="1884567"/>
                <a:ext cx="1557862" cy="353943"/>
              </a:xfrm>
              <a:prstGeom prst="rect">
                <a:avLst/>
              </a:prstGeom>
              <a:blipFill>
                <a:blip r:embed="rId6"/>
                <a:stretch>
                  <a:fillRect l="-4878" r="-4878" b="-3448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039593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00E8BA8-1423-6488-AE24-81F46D6DBF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FDFB289D-EB46-3EB0-8411-4450B5EE16C6}"/>
              </a:ext>
            </a:extLst>
          </p:cNvPr>
          <p:cNvCxnSpPr>
            <a:cxnSpLocks/>
          </p:cNvCxnSpPr>
          <p:nvPr/>
        </p:nvCxnSpPr>
        <p:spPr>
          <a:xfrm flipH="1">
            <a:off x="1852605" y="3329377"/>
            <a:ext cx="286988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A258E542-FB62-3299-6215-1DD6D6BBD3F6}"/>
              </a:ext>
            </a:extLst>
          </p:cNvPr>
          <p:cNvCxnSpPr>
            <a:cxnSpLocks/>
          </p:cNvCxnSpPr>
          <p:nvPr/>
        </p:nvCxnSpPr>
        <p:spPr>
          <a:xfrm flipV="1">
            <a:off x="2470071" y="1375565"/>
            <a:ext cx="0" cy="285205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74A816BF-DE82-F808-F963-E7301DA02B8D}"/>
              </a:ext>
            </a:extLst>
          </p:cNvPr>
          <p:cNvCxnSpPr>
            <a:cxnSpLocks/>
          </p:cNvCxnSpPr>
          <p:nvPr/>
        </p:nvCxnSpPr>
        <p:spPr>
          <a:xfrm flipH="1">
            <a:off x="1365663" y="2359238"/>
            <a:ext cx="2104909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DEC7BB84-64F2-DE14-8988-6EC56A5FFB94}"/>
              </a:ext>
            </a:extLst>
          </p:cNvPr>
          <p:cNvCxnSpPr>
            <a:cxnSpLocks/>
          </p:cNvCxnSpPr>
          <p:nvPr/>
        </p:nvCxnSpPr>
        <p:spPr>
          <a:xfrm flipH="1" flipV="1">
            <a:off x="1395346" y="1375565"/>
            <a:ext cx="1983183" cy="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38773E1B-A2BE-805D-01A0-AC382FA5FEDD}"/>
              </a:ext>
            </a:extLst>
          </p:cNvPr>
          <p:cNvCxnSpPr>
            <a:cxnSpLocks/>
          </p:cNvCxnSpPr>
          <p:nvPr/>
        </p:nvCxnSpPr>
        <p:spPr>
          <a:xfrm flipV="1">
            <a:off x="3464620" y="1286501"/>
            <a:ext cx="0" cy="297278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83A68A09-D568-255B-2B4A-C492E5DCB01F}"/>
              </a:ext>
            </a:extLst>
          </p:cNvPr>
          <p:cNvCxnSpPr>
            <a:cxnSpLocks/>
          </p:cNvCxnSpPr>
          <p:nvPr/>
        </p:nvCxnSpPr>
        <p:spPr>
          <a:xfrm flipV="1">
            <a:off x="1365663" y="795647"/>
            <a:ext cx="0" cy="34319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915DB75-3FA2-68A3-937F-61152A015253}"/>
              </a:ext>
            </a:extLst>
          </p:cNvPr>
          <p:cNvCxnSpPr>
            <a:cxnSpLocks/>
          </p:cNvCxnSpPr>
          <p:nvPr/>
        </p:nvCxnSpPr>
        <p:spPr>
          <a:xfrm>
            <a:off x="1339932" y="4227616"/>
            <a:ext cx="34101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D8B2B7F3-4893-D2D9-DD57-20FA1465C438}"/>
              </a:ext>
            </a:extLst>
          </p:cNvPr>
          <p:cNvCxnSpPr>
            <a:cxnSpLocks/>
          </p:cNvCxnSpPr>
          <p:nvPr/>
        </p:nvCxnSpPr>
        <p:spPr>
          <a:xfrm>
            <a:off x="3455719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ED4456B9-9A79-D82D-BBE6-53397B9F1FDC}"/>
              </a:ext>
            </a:extLst>
          </p:cNvPr>
          <p:cNvCxnSpPr>
            <a:cxnSpLocks/>
          </p:cNvCxnSpPr>
          <p:nvPr/>
        </p:nvCxnSpPr>
        <p:spPr>
          <a:xfrm flipH="1">
            <a:off x="1243938" y="1375566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E3F95696-50EF-A41B-3970-AC06C612319D}"/>
              </a:ext>
            </a:extLst>
          </p:cNvPr>
          <p:cNvSpPr/>
          <p:nvPr/>
        </p:nvSpPr>
        <p:spPr>
          <a:xfrm>
            <a:off x="3366654" y="1286501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497B4B-91D4-FE00-C56C-A9B204CC2285}"/>
                  </a:ext>
                </a:extLst>
              </p:cNvPr>
              <p:cNvSpPr txBox="1"/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4A497B4B-91D4-FE00-C56C-A9B204CC228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BB94CC-CD13-FD43-70A6-474D74E58AD1}"/>
                  </a:ext>
                </a:extLst>
              </p:cNvPr>
              <p:cNvSpPr txBox="1"/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CFBB94CC-CD13-FD43-70A6-474D74E58A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9C3FBB82-7204-1694-7D04-241429A39035}"/>
              </a:ext>
            </a:extLst>
          </p:cNvPr>
          <p:cNvCxnSpPr>
            <a:cxnSpLocks/>
          </p:cNvCxnSpPr>
          <p:nvPr/>
        </p:nvCxnSpPr>
        <p:spPr>
          <a:xfrm>
            <a:off x="2470071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6764DC8E-D169-FEA1-347E-3F5B67D0D585}"/>
              </a:ext>
            </a:extLst>
          </p:cNvPr>
          <p:cNvCxnSpPr>
            <a:cxnSpLocks/>
          </p:cNvCxnSpPr>
          <p:nvPr/>
        </p:nvCxnSpPr>
        <p:spPr>
          <a:xfrm flipH="1">
            <a:off x="1228103" y="2359238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7617C3-5C7A-E01B-C73C-2C61C4F56945}"/>
                  </a:ext>
                </a:extLst>
              </p:cNvPr>
              <p:cNvSpPr txBox="1"/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C87617C3-5C7A-E01B-C73C-2C61C4F569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FC1BD2-EE92-E4D0-D228-DA80E2B7DF48}"/>
                  </a:ext>
                </a:extLst>
              </p:cNvPr>
              <p:cNvSpPr txBox="1"/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72FC1BD2-EE92-E4D0-D228-DA80E2B7DF4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2D96861A-9816-7FCB-04B9-90F05127CD65}"/>
              </a:ext>
            </a:extLst>
          </p:cNvPr>
          <p:cNvSpPr txBox="1"/>
          <p:nvPr/>
        </p:nvSpPr>
        <p:spPr>
          <a:xfrm>
            <a:off x="607126" y="111615"/>
            <a:ext cx="151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smokers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B77C748-184E-5CD0-A71E-6185C371A9EE}"/>
              </a:ext>
            </a:extLst>
          </p:cNvPr>
          <p:cNvSpPr txBox="1"/>
          <p:nvPr/>
        </p:nvSpPr>
        <p:spPr>
          <a:xfrm>
            <a:off x="4618029" y="3931092"/>
            <a:ext cx="1750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non-smokers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54108AE-F391-4865-8076-A2362B8C0F23}"/>
              </a:ext>
            </a:extLst>
          </p:cNvPr>
          <p:cNvSpPr/>
          <p:nvPr/>
        </p:nvSpPr>
        <p:spPr>
          <a:xfrm>
            <a:off x="2381006" y="2258298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A7E34DA0-E445-9579-D374-6DDD254E1349}"/>
              </a:ext>
            </a:extLst>
          </p:cNvPr>
          <p:cNvCxnSpPr>
            <a:cxnSpLocks/>
          </p:cNvCxnSpPr>
          <p:nvPr/>
        </p:nvCxnSpPr>
        <p:spPr>
          <a:xfrm flipH="1">
            <a:off x="1368638" y="2410341"/>
            <a:ext cx="1036649" cy="177966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16B7C-DE89-20A8-923D-4E9CFD8BC0C9}"/>
                  </a:ext>
                </a:extLst>
              </p:cNvPr>
              <p:cNvSpPr txBox="1"/>
              <p:nvPr/>
            </p:nvSpPr>
            <p:spPr>
              <a:xfrm>
                <a:off x="3583866" y="2904030"/>
                <a:ext cx="1750605" cy="6580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𝑆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𝛥</m:t>
                          </m:r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i="1" smtClean="0">
                              <a:latin typeface="Cambria Math" panose="02040503050406030204" pitchFamily="18" charset="0"/>
                            </a:rPr>
                            <m:t>𝛥</m:t>
                          </m:r>
                        </m:den>
                      </m:f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</m:oMath>
                  </m:oMathPara>
                </a14:m>
                <a:endParaRPr lang="en-US" b="1" dirty="0">
                  <a:latin typeface="Chalkboard" panose="03050602040202020205" pitchFamily="66" charset="77"/>
                </a:endParaRPr>
              </a:p>
            </p:txBody>
          </p:sp>
        </mc:Choice>
        <mc:Fallback>
          <p:sp>
            <p:nvSpPr>
              <p:cNvPr id="7" name="TextBox 6">
                <a:extLst>
                  <a:ext uri="{FF2B5EF4-FFF2-40B4-BE49-F238E27FC236}">
                    <a16:creationId xmlns:a16="http://schemas.microsoft.com/office/drawing/2014/main" id="{2DA16B7C-DE89-20A8-923D-4E9CFD8BC0C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3866" y="2904030"/>
                <a:ext cx="1750605" cy="658065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DD55D833-EC83-1209-9833-A0F41B861531}"/>
              </a:ext>
            </a:extLst>
          </p:cNvPr>
          <p:cNvCxnSpPr>
            <a:cxnSpLocks/>
          </p:cNvCxnSpPr>
          <p:nvPr/>
        </p:nvCxnSpPr>
        <p:spPr>
          <a:xfrm flipV="1">
            <a:off x="2139593" y="2906988"/>
            <a:ext cx="0" cy="426929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2" name="Freeform 21">
            <a:extLst>
              <a:ext uri="{FF2B5EF4-FFF2-40B4-BE49-F238E27FC236}">
                <a16:creationId xmlns:a16="http://schemas.microsoft.com/office/drawing/2014/main" id="{AAA81F4E-51EA-E1B0-1132-AD1299F2F28D}"/>
              </a:ext>
            </a:extLst>
          </p:cNvPr>
          <p:cNvSpPr/>
          <p:nvPr/>
        </p:nvSpPr>
        <p:spPr>
          <a:xfrm>
            <a:off x="2177199" y="2971339"/>
            <a:ext cx="1557854" cy="298226"/>
          </a:xfrm>
          <a:custGeom>
            <a:avLst/>
            <a:gdLst>
              <a:gd name="csX0" fmla="*/ 0 w 1068779"/>
              <a:gd name="csY0" fmla="*/ 101816 h 671832"/>
              <a:gd name="csX1" fmla="*/ 320633 w 1068779"/>
              <a:gd name="csY1" fmla="*/ 30564 h 671832"/>
              <a:gd name="csX2" fmla="*/ 629392 w 1068779"/>
              <a:gd name="csY2" fmla="*/ 541203 h 671832"/>
              <a:gd name="csX3" fmla="*/ 1068779 w 1068779"/>
              <a:gd name="csY3" fmla="*/ 671832 h 6718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</a:cxnLst>
            <a:rect l="l" t="t" r="r" b="b"/>
            <a:pathLst>
              <a:path w="1068779" h="671832">
                <a:moveTo>
                  <a:pt x="0" y="101816"/>
                </a:moveTo>
                <a:cubicBezTo>
                  <a:pt x="107867" y="29574"/>
                  <a:pt x="215734" y="-42667"/>
                  <a:pt x="320633" y="30564"/>
                </a:cubicBezTo>
                <a:cubicBezTo>
                  <a:pt x="425532" y="103795"/>
                  <a:pt x="504701" y="434325"/>
                  <a:pt x="629392" y="541203"/>
                </a:cubicBezTo>
                <a:cubicBezTo>
                  <a:pt x="754083" y="648081"/>
                  <a:pt x="911431" y="659956"/>
                  <a:pt x="1068779" y="671832"/>
                </a:cubicBezTo>
              </a:path>
            </a:pathLst>
          </a:custGeom>
          <a:noFill/>
          <a:ln>
            <a:headEnd type="arrow" w="med" len="med"/>
            <a:tailEnd type="none" w="med" len="med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81966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D0097CC-4065-609A-FB04-843C7C7DC7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DD2ECB18-5BF0-69BC-D939-6C73773313F4}"/>
              </a:ext>
            </a:extLst>
          </p:cNvPr>
          <p:cNvCxnSpPr>
            <a:cxnSpLocks/>
          </p:cNvCxnSpPr>
          <p:nvPr/>
        </p:nvCxnSpPr>
        <p:spPr>
          <a:xfrm flipV="1">
            <a:off x="2470071" y="1375565"/>
            <a:ext cx="0" cy="285205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44768196-30DE-ACC0-1EA8-65303156845A}"/>
              </a:ext>
            </a:extLst>
          </p:cNvPr>
          <p:cNvCxnSpPr>
            <a:cxnSpLocks/>
          </p:cNvCxnSpPr>
          <p:nvPr/>
        </p:nvCxnSpPr>
        <p:spPr>
          <a:xfrm flipH="1">
            <a:off x="1365663" y="2359238"/>
            <a:ext cx="2104909" cy="0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92519036-4EEB-A83D-E1FC-49CEFD5AF458}"/>
              </a:ext>
            </a:extLst>
          </p:cNvPr>
          <p:cNvCxnSpPr>
            <a:cxnSpLocks/>
          </p:cNvCxnSpPr>
          <p:nvPr/>
        </p:nvCxnSpPr>
        <p:spPr>
          <a:xfrm flipH="1" flipV="1">
            <a:off x="1395346" y="1375565"/>
            <a:ext cx="1983183" cy="1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FE000AD2-AEE2-C8A3-8C2B-910A5D2DCE0A}"/>
              </a:ext>
            </a:extLst>
          </p:cNvPr>
          <p:cNvCxnSpPr>
            <a:cxnSpLocks/>
          </p:cNvCxnSpPr>
          <p:nvPr/>
        </p:nvCxnSpPr>
        <p:spPr>
          <a:xfrm flipV="1">
            <a:off x="3464620" y="1286501"/>
            <a:ext cx="0" cy="2972783"/>
          </a:xfrm>
          <a:prstGeom prst="line">
            <a:avLst/>
          </a:prstGeom>
          <a:ln w="38100">
            <a:solidFill>
              <a:schemeClr val="bg2">
                <a:lumMod val="75000"/>
              </a:schemeClr>
            </a:solidFill>
            <a:prstDash val="sysDash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C959D739-E341-E2F8-77A7-F8513242BD48}"/>
              </a:ext>
            </a:extLst>
          </p:cNvPr>
          <p:cNvCxnSpPr>
            <a:cxnSpLocks/>
          </p:cNvCxnSpPr>
          <p:nvPr/>
        </p:nvCxnSpPr>
        <p:spPr>
          <a:xfrm flipV="1">
            <a:off x="1365663" y="795647"/>
            <a:ext cx="0" cy="343196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097193E9-5836-708D-ECAA-5FB0B6E16BCB}"/>
              </a:ext>
            </a:extLst>
          </p:cNvPr>
          <p:cNvCxnSpPr>
            <a:cxnSpLocks/>
          </p:cNvCxnSpPr>
          <p:nvPr/>
        </p:nvCxnSpPr>
        <p:spPr>
          <a:xfrm>
            <a:off x="1339932" y="4227616"/>
            <a:ext cx="3410198" cy="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8C8D5DCB-6AB2-2C62-631D-EE2D357CB58E}"/>
              </a:ext>
            </a:extLst>
          </p:cNvPr>
          <p:cNvCxnSpPr>
            <a:cxnSpLocks/>
          </p:cNvCxnSpPr>
          <p:nvPr/>
        </p:nvCxnSpPr>
        <p:spPr>
          <a:xfrm>
            <a:off x="3455719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86492532-F7CD-73A8-937E-044AB5B01519}"/>
              </a:ext>
            </a:extLst>
          </p:cNvPr>
          <p:cNvCxnSpPr>
            <a:cxnSpLocks/>
          </p:cNvCxnSpPr>
          <p:nvPr/>
        </p:nvCxnSpPr>
        <p:spPr>
          <a:xfrm flipH="1">
            <a:off x="1243938" y="1375566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20" name="Oval 19">
            <a:extLst>
              <a:ext uri="{FF2B5EF4-FFF2-40B4-BE49-F238E27FC236}">
                <a16:creationId xmlns:a16="http://schemas.microsoft.com/office/drawing/2014/main" id="{118FB2AC-2524-C5AD-BE5C-AB32E1BD31B6}"/>
              </a:ext>
            </a:extLst>
          </p:cNvPr>
          <p:cNvSpPr/>
          <p:nvPr/>
        </p:nvSpPr>
        <p:spPr>
          <a:xfrm>
            <a:off x="3366654" y="1286501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FBD72F-9551-8C95-FF47-AB2362849126}"/>
                  </a:ext>
                </a:extLst>
              </p:cNvPr>
              <p:cNvSpPr txBox="1"/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29" name="TextBox 28">
                <a:extLst>
                  <a:ext uri="{FF2B5EF4-FFF2-40B4-BE49-F238E27FC236}">
                    <a16:creationId xmlns:a16="http://schemas.microsoft.com/office/drawing/2014/main" id="{16FBD72F-9551-8C95-FF47-AB236284912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36719" y="4389910"/>
                <a:ext cx="1416128" cy="446276"/>
              </a:xfrm>
              <a:prstGeom prst="rect">
                <a:avLst/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E32423-D439-8B92-5A71-4084AF75B0B4}"/>
                  </a:ext>
                </a:extLst>
              </p:cNvPr>
              <p:cNvSpPr txBox="1"/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+</m:t>
                      </m:r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1CE32423-D439-8B92-5A71-4084AF75B0B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-127654" y="1205799"/>
                <a:ext cx="1511125" cy="44627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372001E2-B57F-4ECA-00EB-F344D626E2F1}"/>
              </a:ext>
            </a:extLst>
          </p:cNvPr>
          <p:cNvCxnSpPr>
            <a:cxnSpLocks/>
          </p:cNvCxnSpPr>
          <p:nvPr/>
        </p:nvCxnSpPr>
        <p:spPr>
          <a:xfrm>
            <a:off x="2470071" y="4096990"/>
            <a:ext cx="0" cy="27313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4801415B-56CC-41B2-3F32-2A81DB0A275F}"/>
              </a:ext>
            </a:extLst>
          </p:cNvPr>
          <p:cNvCxnSpPr>
            <a:cxnSpLocks/>
          </p:cNvCxnSpPr>
          <p:nvPr/>
        </p:nvCxnSpPr>
        <p:spPr>
          <a:xfrm flipH="1">
            <a:off x="1228103" y="2359238"/>
            <a:ext cx="263237" cy="0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387C46-EA53-3E71-C99C-D63CD2F9F3F4}"/>
                  </a:ext>
                </a:extLst>
              </p:cNvPr>
              <p:cNvSpPr txBox="1"/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𝑆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14387C46-EA53-3E71-C99C-D63CD2F9F3F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42523" y="2124225"/>
                <a:ext cx="1511125" cy="446276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427AAC-0FF6-90F6-E35F-6785AE72B131}"/>
                  </a:ext>
                </a:extLst>
              </p:cNvPr>
              <p:cNvSpPr txBox="1"/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US" sz="230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𝑤</m:t>
                          </m:r>
                        </m:e>
                        <m:sub>
                          <m:r>
                            <a:rPr lang="en-US" sz="2300" b="0" i="1" smtClean="0">
                              <a:latin typeface="Cambria Math" panose="02040503050406030204" pitchFamily="18" charset="0"/>
                            </a:rPr>
                            <m:t>𝑁</m:t>
                          </m:r>
                        </m:sub>
                      </m:sSub>
                      <m:r>
                        <a:rPr lang="en-US" sz="2300" b="0" i="1" smtClean="0">
                          <a:latin typeface="Cambria Math" panose="02040503050406030204" pitchFamily="18" charset="0"/>
                        </a:rPr>
                        <m:t>𝛥</m:t>
                      </m:r>
                    </m:oMath>
                  </m:oMathPara>
                </a14:m>
                <a:endParaRPr lang="en-US" sz="2300" i="1" dirty="0">
                  <a:cs typeface="AL BAYAN PLAIN" pitchFamily="2" charset="-78"/>
                </a:endParaRPr>
              </a:p>
            </p:txBody>
          </p:sp>
        </mc:Choice>
        <mc:Fallback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09427AAC-0FF6-90F6-E35F-6785AE72B1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762007" y="4378807"/>
                <a:ext cx="1416128" cy="446276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Box 1">
            <a:extLst>
              <a:ext uri="{FF2B5EF4-FFF2-40B4-BE49-F238E27FC236}">
                <a16:creationId xmlns:a16="http://schemas.microsoft.com/office/drawing/2014/main" id="{4F7FA15C-3A3E-B2D2-9DA3-470FCA2E4DE3}"/>
              </a:ext>
            </a:extLst>
          </p:cNvPr>
          <p:cNvSpPr txBox="1"/>
          <p:nvPr/>
        </p:nvSpPr>
        <p:spPr>
          <a:xfrm>
            <a:off x="607126" y="111615"/>
            <a:ext cx="151112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smokers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83C27E-A82E-3FC8-0FED-EE538380E1DC}"/>
              </a:ext>
            </a:extLst>
          </p:cNvPr>
          <p:cNvSpPr txBox="1"/>
          <p:nvPr/>
        </p:nvSpPr>
        <p:spPr>
          <a:xfrm>
            <a:off x="4618029" y="3931092"/>
            <a:ext cx="1750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latin typeface="Chalkboard" panose="03050602040202020205" pitchFamily="66" charset="77"/>
              </a:rPr>
              <a:t>Risk among non-smokers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CA30F0D-7EDD-665F-03DF-28C131F84C4D}"/>
              </a:ext>
            </a:extLst>
          </p:cNvPr>
          <p:cNvCxnSpPr>
            <a:cxnSpLocks/>
          </p:cNvCxnSpPr>
          <p:nvPr/>
        </p:nvCxnSpPr>
        <p:spPr>
          <a:xfrm flipH="1">
            <a:off x="1365663" y="1438544"/>
            <a:ext cx="2027077" cy="2789072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7" name="Oval 6">
            <a:extLst>
              <a:ext uri="{FF2B5EF4-FFF2-40B4-BE49-F238E27FC236}">
                <a16:creationId xmlns:a16="http://schemas.microsoft.com/office/drawing/2014/main" id="{F52C4B25-C035-8B40-A7A6-73120B490EBC}"/>
              </a:ext>
            </a:extLst>
          </p:cNvPr>
          <p:cNvSpPr/>
          <p:nvPr/>
        </p:nvSpPr>
        <p:spPr>
          <a:xfrm>
            <a:off x="2379201" y="2258298"/>
            <a:ext cx="178129" cy="178129"/>
          </a:xfrm>
          <a:prstGeom prst="ellipse">
            <a:avLst/>
          </a:prstGeom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i="1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56B78578-85B8-6D16-6FE4-E9C3D202FD59}"/>
              </a:ext>
            </a:extLst>
          </p:cNvPr>
          <p:cNvCxnSpPr>
            <a:cxnSpLocks/>
            <a:stCxn id="7" idx="3"/>
          </p:cNvCxnSpPr>
          <p:nvPr/>
        </p:nvCxnSpPr>
        <p:spPr>
          <a:xfrm flipH="1">
            <a:off x="1368638" y="2410341"/>
            <a:ext cx="1036649" cy="1779669"/>
          </a:xfrm>
          <a:prstGeom prst="line">
            <a:avLst/>
          </a:prstGeom>
          <a:ln w="38100"/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E9D13-773F-D89F-2CF5-692AF53616CC}"/>
                  </a:ext>
                </a:extLst>
              </p:cNvPr>
              <p:cNvSpPr txBox="1"/>
              <p:nvPr/>
            </p:nvSpPr>
            <p:spPr>
              <a:xfrm>
                <a:off x="3818409" y="2268843"/>
                <a:ext cx="2713018" cy="84664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</m:den>
                      </m:f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≥</m:t>
                      </m:r>
                      <m:f>
                        <m:fPr>
                          <m:ctrlPr>
                            <a:rPr lang="en-US" sz="2400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b>
                            <m:sSubPr>
                              <m:ctrlPr>
                                <a:rPr lang="en-US" sz="240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b="0" i="1" smtClean="0">
                                  <a:latin typeface="Cambria Math" panose="02040503050406030204" pitchFamily="18" charset="0"/>
                                </a:rPr>
                                <m:t>𝑠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</m:num>
                        <m:den>
                          <m:sSub>
                            <m:sSubPr>
                              <m:ctrlP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  <m:r>
                                <a:rPr lang="en-US" sz="2400" i="1" smtClean="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𝑤</m:t>
                              </m:r>
                            </m:e>
                            <m:sub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</m:sub>
                          </m:sSub>
                          <m:r>
                            <a:rPr lang="en-US" sz="2400" i="1">
                              <a:latin typeface="Cambria Math" panose="02040503050406030204" pitchFamily="18" charset="0"/>
                            </a:rPr>
                            <m:t>𝛥</m:t>
                          </m:r>
                        </m:den>
                      </m:f>
                    </m:oMath>
                  </m:oMathPara>
                </a14:m>
                <a:endParaRPr lang="en-US" sz="2400" b="1" dirty="0">
                  <a:latin typeface="Chalkboard" panose="03050602040202020205" pitchFamily="66" charset="77"/>
                </a:endParaRPr>
              </a:p>
            </p:txBody>
          </p:sp>
        </mc:Choice>
        <mc:Fallback>
          <p:sp>
            <p:nvSpPr>
              <p:cNvPr id="27" name="TextBox 26">
                <a:extLst>
                  <a:ext uri="{FF2B5EF4-FFF2-40B4-BE49-F238E27FC236}">
                    <a16:creationId xmlns:a16="http://schemas.microsoft.com/office/drawing/2014/main" id="{5C5E9D13-773F-D89F-2CF5-692AF53616C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18409" y="2268843"/>
                <a:ext cx="2713018" cy="846642"/>
              </a:xfrm>
              <a:prstGeom prst="rect">
                <a:avLst/>
              </a:prstGeom>
              <a:blipFill>
                <a:blip r:embed="rId6"/>
                <a:stretch>
                  <a:fillRect b="-147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930819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518</TotalTime>
  <Words>104</Words>
  <Application>Microsoft Macintosh PowerPoint</Application>
  <PresentationFormat>Widescreen</PresentationFormat>
  <Paragraphs>30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2" baseType="lpstr">
      <vt:lpstr>AL BAYAN PLAIN</vt:lpstr>
      <vt:lpstr>Aptos</vt:lpstr>
      <vt:lpstr>Aptos Display</vt:lpstr>
      <vt:lpstr>Arial</vt:lpstr>
      <vt:lpstr>Cambria Math</vt:lpstr>
      <vt:lpstr>Chalkboard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Amy Cochran</dc:creator>
  <cp:lastModifiedBy>Amy Cochran</cp:lastModifiedBy>
  <cp:revision>6</cp:revision>
  <dcterms:created xsi:type="dcterms:W3CDTF">2026-06-28T13:35:04Z</dcterms:created>
  <dcterms:modified xsi:type="dcterms:W3CDTF">2026-06-28T22:13:38Z</dcterms:modified>
</cp:coreProperties>
</file>